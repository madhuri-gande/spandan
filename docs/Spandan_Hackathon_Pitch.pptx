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1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3840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5800" b="1">
                <a:solidFill>
                  <a:srgbClr val="FFFFFF"/>
                </a:solidFill>
              </a:defRPr>
            </a:pPr>
            <a:r>
              <a:t>Spandan</a:t>
            </a:r>
          </a:p>
          <a:p>
            <a:pPr algn="ctr">
              <a:spcBef>
                <a:spcPts val="1200"/>
              </a:spcBef>
              <a:defRPr sz="2600" b="0">
                <a:solidFill>
                  <a:srgbClr val="FFFFFF"/>
                </a:solidFill>
              </a:defRPr>
            </a:pPr>
            <a:r>
              <a:t>Autonomous AI Blood Support Network</a:t>
            </a:r>
          </a:p>
          <a:p>
            <a:pPr algn="ctr">
              <a:spcBef>
                <a:spcPts val="1800"/>
              </a:spcBef>
              <a:defRPr sz="1700" b="0">
                <a:solidFill>
                  <a:srgbClr val="FFDDDD"/>
                </a:solidFill>
              </a:defRPr>
            </a:pPr>
            <a:r>
              <a:t>Blood Warriors Hackathon  |  Team 066  |  Top 15 Finalist</a:t>
            </a:r>
          </a:p>
          <a:p>
            <a:pPr algn="ctr">
              <a:spcBef>
                <a:spcPts val="800"/>
              </a:spcBef>
              <a:defRPr sz="1500" b="0">
                <a:solidFill>
                  <a:srgbClr val="FFDDDD"/>
                </a:solidFill>
              </a:defRPr>
            </a:pPr>
            <a:r>
              <a:t>स्पंदन — the heartbeat that keeps care in rhythm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Imagine a coordinator at 11 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A thalassemia patient needs a B+ transfusion in three days. The coordinator opens a spreadsheet with hundreds of donor names, starts calling — wrong language, no answer, try the next number.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Meanwhile, three other patients are approaching their transfusion dates across Hyderabad. One coordinator cannot hold this rhythm alone.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Spandan is the always-on layer that forecasts who needs blood, ranks the right donors, reaches them in their language, and escalates automatically — without anyone clicking refresh.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94960"/>
            <a:ext cx="10972800" cy="777240"/>
          </a:xfrm>
          <a:prstGeom prst="roundRect">
            <a:avLst/>
          </a:prstGeom>
          <a:solidFill>
            <a:srgbClr val="FD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3212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C8102E"/>
                </a:solidFill>
              </a:defRPr>
            </a:pPr>
            <a:r>
              <a:t>We built this on 7,000+ real Blood Warriors records — and it is live on AWS right now.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The problem we are solving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Why manual coordination breaks at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548640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The patient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4983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Over 1,00,000 thalassemia patients in India need lifelong transfusions — often 500 to 700 in a lifetime, on a personal cadence every few weeks.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Missing one cycle risks complications. Families live by the calendar of the next bag of blood.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8640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The coordination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983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Blood Warriors matches donors to patients through bridges — but outreach is still manual calls, WhatsApp forwards, and spreadsheets.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Coordinators burn out. Donors get over-contacted or contacted in the wrong language. Emergencies need everyone at once; normal weeks need gentle sequential pacing.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Before Spandan  vs  After Spandan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548640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Today (manual)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4983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Coordinator scans a list and guesses who to call first.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Same donors called repeatedly; others never reached.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No shared memory of who said yes, who timed out, who cancelled.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Dashboard is a spreadsheet. Outreach stops when the laptop sleeps.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8640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With Spandan (autonomous)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983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Agent forecasts the 90-day pipeline and works most urgent patients first.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ML ranks donors by likelihood to respond; blood-group rules enforce safety.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Bedrock writes Telugu, Hindi, Tamil, or English emails; donors reply YES/NO via magic link.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Runs 24/7 on EC2 — coordinator watches, intervenes only when needed.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What Spandan does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One intelligent nervous system for the donor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Spandan is not a chatbot on a website. It is an autonomous state machine that wakes every 30 seconds, advances every urgent patient by one step, and remembers everything in DynamoDB.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For each patient (bridge), it predicts when blood is needed, loads that patient's donor pool from the real dataset, ranks donors with logistic regression, and emails exactly one donor at a time — waiting for a reply before escalating.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When a donor clicks YES in their inbox, the agent confirms the donation, sends a reminder, and rolls the patient's transfusion timeline forward. When they say NO or stay silent, the next-ranked donor is contacted automatically.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Emergency surge mode blasts all eligible ranked donors in parallel — one shot, with guards so we never over-book a patient.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Built for real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651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2377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102E"/>
                </a:solidFill>
              </a:defRPr>
            </a:pPr>
            <a:r>
              <a:t>7,033</a:t>
            </a:r>
          </a:p>
          <a:p>
            <a:pPr>
              <a:defRPr sz="1200">
                <a:solidFill>
                  <a:srgbClr val="5A6068"/>
                </a:solidFill>
              </a:defRPr>
            </a:pPr>
            <a:r>
              <a:t>rows in organiser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17320"/>
            <a:ext cx="2651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554480"/>
            <a:ext cx="2377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102E"/>
                </a:solidFill>
              </a:defRPr>
            </a:pPr>
            <a:r>
              <a:t>6,946</a:t>
            </a:r>
          </a:p>
          <a:p>
            <a:pPr>
              <a:defRPr sz="1200">
                <a:solidFill>
                  <a:srgbClr val="5A6068"/>
                </a:solidFill>
              </a:defRPr>
            </a:pPr>
            <a:r>
              <a:t>donors loaded to DynamoDB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417320"/>
            <a:ext cx="2651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2377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102E"/>
                </a:solidFill>
              </a:defRPr>
            </a:pPr>
            <a:r>
              <a:t>80</a:t>
            </a:r>
          </a:p>
          <a:p>
            <a:pPr>
              <a:defRPr sz="1200">
                <a:solidFill>
                  <a:srgbClr val="5A6068"/>
                </a:solidFill>
              </a:defRPr>
            </a:pPr>
            <a:r>
              <a:t>patient bridges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017520"/>
            <a:ext cx="2651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54679"/>
            <a:ext cx="2377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102E"/>
                </a:solidFill>
              </a:defRPr>
            </a:pPr>
            <a:r>
              <a:t>4</a:t>
            </a:r>
          </a:p>
          <a:p>
            <a:pPr>
              <a:defRPr sz="1200">
                <a:solidFill>
                  <a:srgbClr val="5A6068"/>
                </a:solidFill>
              </a:defRPr>
            </a:pPr>
            <a:r>
              <a:t>outreach languages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017520"/>
            <a:ext cx="2651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2377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102E"/>
                </a:solidFill>
              </a:defRPr>
            </a:pPr>
            <a:r>
              <a:t>24/7</a:t>
            </a:r>
          </a:p>
          <a:p>
            <a:pPr>
              <a:defRPr sz="1200">
                <a:solidFill>
                  <a:srgbClr val="5A6068"/>
                </a:solidFill>
              </a:defRPr>
            </a:pPr>
            <a:r>
              <a:t>agent on EC2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3017520"/>
            <a:ext cx="2651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154679"/>
            <a:ext cx="2377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102E"/>
                </a:solidFill>
              </a:defRPr>
            </a:pPr>
            <a:r>
              <a:t>~0.7</a:t>
            </a:r>
          </a:p>
          <a:p>
            <a:pPr>
              <a:defRPr sz="1200">
                <a:solidFill>
                  <a:srgbClr val="5A6068"/>
                </a:solidFill>
              </a:defRPr>
            </a:pPr>
            <a:r>
              <a:t>ML ranking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22222B"/>
                </a:solidFill>
              </a:defRPr>
            </a:pPr>
            <a:r>
              <a:t>Every number above comes from our deployed system — not slide fiction. Judges can open the live dashboard, watch an email arrive in MailPit, click YES, and see the KPI change in real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Demand forecasting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Who needs blood — and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Each patient has a personal transfusion cadence stored as frequency_in_days and last_transfusion_date from the Blood Warriors dataset.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Our forecasting module rolls that cadence forward: if historical dates are in the past, we project to the next future date so the dashboard shows a realistic 90-day pipeline.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The autonomous agent does not work on random patients — it pulls from this urgency queue, sorted by days_until transfusion, and skips patients already served in the last 24 hours.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This is rule-based clinical cadence math, not black-box ML — because transfusion timing is driven by known intervals, not guesswork.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94960"/>
            <a:ext cx="10972800" cy="777240"/>
          </a:xfrm>
          <a:prstGeom prst="roundRect">
            <a:avLst/>
          </a:prstGeom>
          <a:solidFill>
            <a:srgbClr val="FD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3212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C8102E"/>
                </a:solidFill>
              </a:defRPr>
            </a:pPr>
            <a:r>
              <a:t>Result: proactive outreach days before crisis, not reactive panic.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ML donor ranking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Who to ask first — learned from real behaviour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548640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4983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Algorithm: Logistic Regression (scikit-learn) with StandardScaler.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Label: donated_earlier from dataset — proxy for likely YES response.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Trained on 80/20 split; class_weight=balanced; ROC-AUC ~0.7 on holdout.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Artifact: models/donor_ranking.pkl — trained on EC2 at deploy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8640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Features &amp; safety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983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Features: calls-to-donations ratio, donation history (log), eligibility, donor type (regular/one-time), call frequency.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Blood compatibility is a hard rule before ML — we never score incompatible pairs.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Runtime skip_score penalises donors who ignore outreach — failure learning on top of the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Generative AI with Amazon Bedrock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Claude Haiku 4.5 — multilingual &amp; intent-aware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Outreach: Bedrock drafts a warm, urgent-but-not-alarming donation request in the donor's preferred language — Telugu, Hindi, Tamil, or English — using patient name, hospital, and blood group as context.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Reply intelligence: the same model classifies donor replies as YES, NO, CANCEL, or QUESTION — even when the text is informal or in a regional language.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Follow-ups: auto-generated reminders after confirmation, polite 'already covered' messages when enough donors have said yes, and empathetic answers when donors ask questions.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This is not template mail merge — every message is generated fresh, while the agent state machine decides when to send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Real emails, real replies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Not a UI mock — a full delivery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When the agent decides to contact a donor, it writes the message to DynamoDB, builds an HTML email with patient details, and sends via SMTP to MailPit (demo) or Amazon SES (production) — same code path, one env var to switch.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Each email contains signed magic-link buttons for YES and NO. Donors click without logging in; HMAC tokens prevent tampering.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The reply lands in DynamoDB as an inbound message; the agent classifies intent and either confirms the donation or emails the next-ranked donor.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700">
                <a:solidFill>
                  <a:srgbClr val="22222B"/>
                </a:solidFill>
              </a:defRPr>
            </a:pPr>
            <a:r>
              <a:t>Judges see the full loop in MailPit at http://98.84.159.117/mail — multilingual HTML, real SMTP, real state updates.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Agent lifecycle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Sequential pacing with emergency override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53312"/>
            <a:ext cx="1417320" cy="53035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399032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B"/>
                </a:solidFill>
              </a:defRPr>
            </a:pPr>
            <a:r>
              <a:t>Background thread every ~30s; process pending replies first.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66543"/>
            <a:ext cx="1417320" cy="530352"/>
          </a:xfrm>
          <a:prstGeom prst="roundRect">
            <a:avLst/>
          </a:prstGeom>
          <a:solidFill>
            <a:srgbClr val="222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Select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2112263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B"/>
                </a:solidFill>
              </a:defRPr>
            </a:pPr>
            <a:r>
              <a:t>Pick patients from 90-day forecast queue (most urgent first).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779776"/>
            <a:ext cx="1417320" cy="53035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825496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B"/>
                </a:solidFill>
              </a:defRPr>
            </a:pPr>
            <a:r>
              <a:t>Filter by blood group + eligibility; ML score top donor.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493008"/>
            <a:ext cx="1417320" cy="530352"/>
          </a:xfrm>
          <a:prstGeom prst="roundRect">
            <a:avLst/>
          </a:prstGeom>
          <a:solidFill>
            <a:srgbClr val="222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538727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B"/>
                </a:solidFill>
              </a:defRPr>
            </a:pPr>
            <a:r>
              <a:t>One donor per patient per wait window (default 5 min demo / 1 hr prod).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06240"/>
            <a:ext cx="1417320" cy="53035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Wait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4251959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B"/>
                </a:solidFill>
              </a:defRPr>
            </a:pPr>
            <a:r>
              <a:t>If no reply after window, bump skip_score and try next donor.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919472"/>
            <a:ext cx="1417320" cy="530352"/>
          </a:xfrm>
          <a:prstGeom prst="roundRect">
            <a:avLst/>
          </a:prstGeom>
          <a:solidFill>
            <a:srgbClr val="222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Confirm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965192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B"/>
                </a:solidFill>
              </a:defRPr>
            </a:pPr>
            <a:r>
              <a:t>YES → donation record, reminder, advance patient cadence.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632704"/>
            <a:ext cx="1417320" cy="530352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5678424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B"/>
                </a:solidFill>
              </a:defRPr>
            </a:pPr>
            <a:r>
              <a:t>Emergency: parallel blast to top 5 ranked donors, one-shot.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System architecture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Live on AWS EC2 — nginx :80 → Streamlit + MailPit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Coordinator &amp; Donor → nginx :80 → Streamlit + MailPit (/mail)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Autonomous Agent: forecast → ML rank → Bedrock email → reply → DynamoDB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AWS: DynamoDB (state) + Bedrock Haiku 4.5 (multilingual AI)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See docs/assets/architecture-diagram.svg for full diagram.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AWS end-to-end</a:t>
            </a:r>
          </a:p>
          <a:p>
            <a:pPr>
              <a:spcBef>
                <a:spcPts val="400"/>
              </a:spcBef>
              <a:defRPr sz="1500">
                <a:solidFill>
                  <a:srgbClr val="5A6068"/>
                </a:solidFill>
              </a:defRPr>
            </a:pPr>
            <a:r>
              <a:t>Production-shaped demo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548640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4983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EC2 t3.small, Amazon Linux 2023, nginx on port 80.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systemd service runs Streamlit + MailPit + agent 24/7.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IAM role SpandanEC2Role — DynamoDB + Bedrock, no keys on disk.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Security group: 80 public, 22 SSH restricted.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8640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Managed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983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DynamoDB: donors, bridges, messages, donations, agent_log.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Bedrock Runtime: Claude Haiku 4.5 in us-east-1.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Optional S3 for ML model artifact; SES swap for production email.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22222B"/>
                </a:solidFill>
              </a:defRPr>
            </a:pPr>
            <a:r>
              <a:t>Full source on GitHub; Bitly short link for judges on mobile.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Live demo — try it now</a:t>
            </a:r>
          </a:p>
        </p:txBody>
      </p:sp>
      <p:pic>
        <p:nvPicPr>
          <p:cNvPr id="4" name="Picture 3" descr="qr-bit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1965960" cy="1965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11880"/>
            <a:ext cx="2057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8102E"/>
                </a:solidFill>
              </a:defRPr>
            </a:pPr>
            <a:r>
              <a:t>Share link (WhatsApp)</a:t>
            </a:r>
          </a:p>
          <a:p>
            <a:pPr algn="ctr">
              <a:defRPr sz="800">
                <a:solidFill>
                  <a:srgbClr val="5A6068"/>
                </a:solidFill>
              </a:defRPr>
            </a:pPr>
            <a:r>
              <a:t>bit.ly/4vCaAQ4</a:t>
            </a:r>
          </a:p>
        </p:txBody>
      </p:sp>
      <p:pic>
        <p:nvPicPr>
          <p:cNvPr id="6" name="Picture 5" descr="q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508760"/>
            <a:ext cx="1965960" cy="1965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0" y="3611880"/>
            <a:ext cx="2057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8102E"/>
                </a:solidFill>
              </a:defRPr>
            </a:pPr>
            <a:r>
              <a:t>Dashboard</a:t>
            </a:r>
          </a:p>
          <a:p>
            <a:pPr algn="ctr">
              <a:defRPr sz="800">
                <a:solidFill>
                  <a:srgbClr val="5A6068"/>
                </a:solidFill>
              </a:defRPr>
            </a:pPr>
            <a:r>
              <a:t>98.84.159.117</a:t>
            </a:r>
          </a:p>
        </p:txBody>
      </p:sp>
      <p:pic>
        <p:nvPicPr>
          <p:cNvPr id="8" name="Picture 7" descr="qr-mailp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508760"/>
            <a:ext cx="1965960" cy="196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0" y="3611880"/>
            <a:ext cx="2057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8102E"/>
                </a:solidFill>
              </a:defRPr>
            </a:pPr>
            <a:r>
              <a:t>MailPit inbox</a:t>
            </a:r>
          </a:p>
          <a:p>
            <a:pPr algn="ctr">
              <a:defRPr sz="800">
                <a:solidFill>
                  <a:srgbClr val="5A6068"/>
                </a:solidFill>
              </a:defRPr>
            </a:pPr>
            <a:r>
              <a:t>98.84.159.117/mail</a:t>
            </a:r>
          </a:p>
        </p:txBody>
      </p:sp>
      <p:pic>
        <p:nvPicPr>
          <p:cNvPr id="10" name="Picture 9" descr="qr-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1508760"/>
            <a:ext cx="1965960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0" y="3611880"/>
            <a:ext cx="2057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8102E"/>
                </a:solidFill>
              </a:defRPr>
            </a:pPr>
            <a:r>
              <a:t>GitHub</a:t>
            </a:r>
          </a:p>
          <a:p>
            <a:pPr algn="ctr">
              <a:defRPr sz="800">
                <a:solidFill>
                  <a:srgbClr val="5A6068"/>
                </a:solidFill>
              </a:defRPr>
            </a:pPr>
            <a:r>
              <a:t>github.com/madhuri-gande/spa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3484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400">
                <a:solidFill>
                  <a:srgbClr val="22222B"/>
                </a:solidFill>
              </a:defRPr>
            </a:pPr>
            <a:r>
              <a:t>Login: coordinator (password shared at demo).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400">
                <a:solidFill>
                  <a:srgbClr val="22222B"/>
                </a:solidFill>
              </a:defRPr>
            </a:pPr>
            <a:r>
              <a:t>Watch the 90-day patient pipeline, click 'Email next donor', open MailPit, click YES in the email — KPI updates without touching the keyboard again.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74920"/>
            <a:ext cx="11155680" cy="1417320"/>
          </a:xfrm>
          <a:prstGeom prst="roundRect">
            <a:avLst/>
          </a:prstGeom>
          <a:solidFill>
            <a:srgbClr val="FD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2578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300">
                <a:solidFill>
                  <a:srgbClr val="C8102E"/>
                </a:solidFill>
              </a:defRPr>
            </a:pPr>
            <a:r>
              <a:t>90-second demo script: Open dashboard → show pipeline → email donor #1 → MailPit → multilingual email → YES → confirmed KPI → optional surge on one patient.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How we map to evaluation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9844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102E"/>
                </a:solidFill>
              </a:defRPr>
            </a:pPr>
            <a:r>
              <a:t>Practicality &amp; scalability (20%)</a:t>
            </a:r>
          </a:p>
          <a:p>
            <a:pPr>
              <a:spcBef>
                <a:spcPts val="300"/>
              </a:spcBef>
              <a:defRPr sz="1200">
                <a:solidFill>
                  <a:srgbClr val="22222B"/>
                </a:solidFill>
              </a:defRPr>
            </a:pPr>
            <a:r>
              <a:t>Real cadence forecasting over 90 days, per-donor cooldowns, sequential pacing to avoid over-mobilization, surge for emergencies, SES-ready email backend, DynamoDB on-demand.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22576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102E"/>
                </a:solidFill>
              </a:defRPr>
            </a:pPr>
            <a:r>
              <a:t>Innovation (20%)</a:t>
            </a:r>
          </a:p>
          <a:p>
            <a:pPr>
              <a:spcBef>
                <a:spcPts val="300"/>
              </a:spcBef>
              <a:defRPr sz="1200">
                <a:solidFill>
                  <a:srgbClr val="22222B"/>
                </a:solidFill>
              </a:defRPr>
            </a:pPr>
            <a:r>
              <a:t>Autonomous per-patient state machine — not a chatbot wrapper. Combines forecast queue, ML ranking, generative multilingual outreach, and magic-link reply loop in one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467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102E"/>
                </a:solidFill>
              </a:defRPr>
            </a:pPr>
            <a:r>
              <a:t>AI component (20%)</a:t>
            </a:r>
          </a:p>
          <a:p>
            <a:pPr>
              <a:spcBef>
                <a:spcPts val="300"/>
              </a:spcBef>
              <a:defRPr sz="1200">
                <a:solidFill>
                  <a:srgbClr val="22222B"/>
                </a:solidFill>
              </a:defRPr>
            </a:pPr>
            <a:r>
              <a:t>Bedrock Haiku for generation + intent classification; sklearn logistic regression trained on organiser dataset with 7 engineered features and ~0.7 AUC.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370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102E"/>
                </a:solidFill>
              </a:defRPr>
            </a:pPr>
            <a:r>
              <a:t>Real implementation (20%)</a:t>
            </a:r>
          </a:p>
          <a:p>
            <a:pPr>
              <a:spcBef>
                <a:spcPts val="300"/>
              </a:spcBef>
              <a:defRPr sz="1200">
                <a:solidFill>
                  <a:srgbClr val="22222B"/>
                </a:solidFill>
              </a:defRPr>
            </a:pPr>
            <a:r>
              <a:t>Live SMTP emails, HMAC-signed replies, DynamoDB state across cycles, agent_log audit trail — judges can verify every step without us touching the UI.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394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102E"/>
                </a:solidFill>
              </a:defRPr>
            </a:pPr>
            <a:r>
              <a:t>End-to-end deployment (20%)</a:t>
            </a:r>
          </a:p>
          <a:p>
            <a:pPr>
              <a:spcBef>
                <a:spcPts val="300"/>
              </a:spcBef>
              <a:defRPr sz="1200">
                <a:solidFill>
                  <a:srgbClr val="22222B"/>
                </a:solidFill>
              </a:defRPr>
            </a:pPr>
            <a:r>
              <a:t>GitHub repo, EC2 + nginx + systemd, IAM role, public demo URL, pitch deck with QR codes, dataset loaded to production-shaped AWS stack.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1556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C8102E"/>
                </a:solidFill>
              </a:defRPr>
            </a:pPr>
            <a:r>
              <a:t>Impact &amp;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22222B"/>
                </a:solidFill>
              </a:defRPr>
            </a:pPr>
            <a:r>
              <a:t>Near term: Blood Warriors coordinators get a single dashboard for the whole pipeline — who is due, who was contacted, who confirmed — while the agent does the repetitive outreach.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22222B"/>
                </a:solidFill>
              </a:defRPr>
            </a:pPr>
            <a:r>
              <a:t>Production path: swap MailPit for Amazon SES, add WhatsApp Business webhooks alongside email, scale agent workers on ECS, and connect to hospital blood-bank inventory APIs.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22222B"/>
                </a:solidFill>
              </a:defRPr>
            </a:pPr>
            <a:r>
              <a:t>Why it matters: every automated outreach hour returned to a coordinator is an hour they can spend with families in crisis — not re-dialing the same donor list.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22222B"/>
                </a:solidFill>
              </a:defRPr>
            </a:pPr>
            <a:r>
              <a:t>Spandan keeps the rhythm. Coordinators keep the humanity.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394960"/>
            <a:ext cx="10972800" cy="777240"/>
          </a:xfrm>
          <a:prstGeom prst="roundRect">
            <a:avLst/>
          </a:prstGeom>
          <a:solidFill>
            <a:srgbClr val="FD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3212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C8102E"/>
                </a:solidFill>
              </a:defRPr>
            </a:pPr>
            <a:r>
              <a:t>Live now: https://bit.ly/4vCaAQ4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1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804672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>
              <a:spcBef>
                <a:spcPts val="1400"/>
              </a:spcBef>
              <a:defRPr sz="2200" b="0">
                <a:solidFill>
                  <a:srgbClr val="FFFFFF"/>
                </a:solidFill>
              </a:defRPr>
            </a:pPr>
            <a:r>
              <a:t>Questions welcome — demo is live</a:t>
            </a:r>
          </a:p>
          <a:p>
            <a:pPr>
              <a:spcBef>
                <a:spcPts val="1400"/>
              </a:spcBef>
              <a:defRPr sz="1600" b="0">
                <a:solidFill>
                  <a:srgbClr val="FFDDDD"/>
                </a:solidFill>
              </a:defRPr>
            </a:pPr>
            <a:r>
              <a:t>https://bit.ly/4vCaAQ4</a:t>
            </a:r>
          </a:p>
          <a:p>
            <a:pPr>
              <a:spcBef>
                <a:spcPts val="1000"/>
              </a:spcBef>
              <a:defRPr sz="1400" b="0">
                <a:solidFill>
                  <a:srgbClr val="FFDDDD"/>
                </a:solidFill>
              </a:defRPr>
            </a:pPr>
            <a:r>
              <a:t>https://github.com/madhuri-gande/spandan</a:t>
            </a:r>
          </a:p>
          <a:p>
            <a:pPr>
              <a:spcBef>
                <a:spcPts val="1000"/>
              </a:spcBef>
              <a:defRPr sz="1300" b="0">
                <a:solidFill>
                  <a:srgbClr val="FFDDDD"/>
                </a:solidFill>
              </a:defRPr>
            </a:pPr>
            <a:r>
              <a:t>Team 066 · Blood Warriors Hackathon</a:t>
            </a:r>
          </a:p>
        </p:txBody>
      </p:sp>
      <p:pic>
        <p:nvPicPr>
          <p:cNvPr id="3" name="Picture 2" descr="qr-bit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91640"/>
            <a:ext cx="2148840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006840" y="3977639"/>
            <a:ext cx="2423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DDDD"/>
                </a:solidFill>
              </a:defRPr>
            </a:pPr>
            <a:r>
              <a:t>Scan to open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