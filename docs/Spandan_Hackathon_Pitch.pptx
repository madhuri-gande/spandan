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926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Spandan</a:t>
            </a:r>
          </a:p>
          <a:p>
            <a:pPr algn="ctr">
              <a:spcBef>
                <a:spcPts val="1400"/>
              </a:spcBef>
              <a:defRPr sz="2600">
                <a:solidFill>
                  <a:srgbClr val="FFFFFF"/>
                </a:solidFill>
              </a:defRPr>
            </a:pPr>
            <a:r>
              <a:t>Autonomous AI Blood Support Network</a:t>
            </a:r>
          </a:p>
          <a:p>
            <a:pPr algn="ctr">
              <a:spcBef>
                <a:spcPts val="2200"/>
              </a:spcBef>
              <a:defRPr sz="1700">
                <a:solidFill>
                  <a:srgbClr val="FFDDDD"/>
                </a:solidFill>
              </a:defRPr>
            </a:pPr>
            <a:r>
              <a:t>Blood Warriors Hackathon · Team 066</a:t>
            </a:r>
          </a:p>
          <a:p>
            <a:pPr algn="ctr">
              <a:spcBef>
                <a:spcPts val="800"/>
              </a:spcBef>
              <a:defRPr sz="1500">
                <a:solidFill>
                  <a:srgbClr val="FFDDDD"/>
                </a:solidFill>
              </a:defRPr>
            </a:pPr>
            <a:r>
              <a:t>स्पंदन · the heartbeat that keeps care in rhythm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8102E"/>
                </a:solidFill>
              </a:defRPr>
            </a:pPr>
            <a:r>
              <a:t>Impact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4747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02E"/>
                </a:solidFill>
              </a:defRPr>
            </a:pPr>
            <a:r>
              <a:t>7,000+</a:t>
            </a:r>
          </a:p>
          <a:p>
            <a:pPr>
              <a:spcBef>
                <a:spcPts val="400"/>
              </a:spcBef>
              <a:defRPr sz="1400">
                <a:solidFill>
                  <a:srgbClr val="5A6068"/>
                </a:solidFill>
              </a:defRPr>
            </a:pPr>
            <a:r>
              <a:t>donor records in real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08760"/>
            <a:ext cx="34747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91639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02E"/>
                </a:solidFill>
              </a:defRPr>
            </a:pPr>
            <a:r>
              <a:t>90 days</a:t>
            </a:r>
          </a:p>
          <a:p>
            <a:pPr>
              <a:spcBef>
                <a:spcPts val="400"/>
              </a:spcBef>
              <a:defRPr sz="1400">
                <a:solidFill>
                  <a:srgbClr val="5A6068"/>
                </a:solidFill>
              </a:defRPr>
            </a:pPr>
            <a:r>
              <a:t>forecast pipeline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337560"/>
            <a:ext cx="34747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02E"/>
                </a:solidFill>
              </a:defRPr>
            </a:pPr>
            <a:r>
              <a:t>4 languages</a:t>
            </a:r>
          </a:p>
          <a:p>
            <a:pPr>
              <a:spcBef>
                <a:spcPts val="400"/>
              </a:spcBef>
              <a:defRPr sz="1400">
                <a:solidFill>
                  <a:srgbClr val="5A6068"/>
                </a:solidFill>
              </a:defRPr>
            </a:pPr>
            <a:r>
              <a:t>Telugu · Hindi · Tamil · English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337560"/>
            <a:ext cx="34747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520440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02E"/>
                </a:solidFill>
              </a:defRPr>
            </a:pPr>
            <a:r>
              <a:t>24/7</a:t>
            </a:r>
          </a:p>
          <a:p>
            <a:pPr>
              <a:spcBef>
                <a:spcPts val="400"/>
              </a:spcBef>
              <a:defRPr sz="1400">
                <a:solidFill>
                  <a:srgbClr val="5A6068"/>
                </a:solidFill>
              </a:defRPr>
            </a:pPr>
            <a:r>
              <a:t>autonomous agent on AWS EC2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77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068"/>
                </a:solidFill>
              </a:defRPr>
            </a:pPr>
            <a:r>
              <a:t>Built on Blood Warriors data — not synthetic patients. Live demo running 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8102E"/>
                </a:solidFill>
              </a:defRPr>
            </a:pPr>
            <a:r>
              <a:t>The problem</a:t>
            </a:r>
          </a:p>
          <a:p>
            <a:pPr>
              <a:spcBef>
                <a:spcPts val="600"/>
              </a:spcBef>
              <a:defRPr sz="1600">
                <a:solidFill>
                  <a:srgbClr val="5A6068"/>
                </a:solidFill>
              </a:defRPr>
            </a:pPr>
            <a:r>
              <a:t>Manual coordination does not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B"/>
                </a:solidFill>
              </a:defRPr>
            </a:pPr>
            <a:r>
              <a:t>▸  1,00,000+ Thalassemia patients need 500–700 transfusions in a lifetime</a:t>
            </a:r>
          </a:p>
          <a:p>
            <a:pPr>
              <a:spcAft>
                <a:spcPts val="1000"/>
              </a:spcAft>
              <a:defRPr sz="1900">
                <a:solidFill>
                  <a:srgbClr val="22222B"/>
                </a:solidFill>
              </a:defRPr>
            </a:pPr>
            <a:r>
              <a:t>▸  Blood Warriors matches donors to patients — today mostly manual calls &amp; spreadsheets</a:t>
            </a:r>
          </a:p>
          <a:p>
            <a:pPr>
              <a:spcAft>
                <a:spcPts val="1000"/>
              </a:spcAft>
              <a:defRPr sz="1900">
                <a:solidFill>
                  <a:srgbClr val="22222B"/>
                </a:solidFill>
              </a:defRPr>
            </a:pPr>
            <a:r>
              <a:t>▸  Coordinators chase donors one-by-one; wrong language, timing, and fatigue</a:t>
            </a:r>
          </a:p>
          <a:p>
            <a:pPr>
              <a:spcAft>
                <a:spcPts val="1000"/>
              </a:spcAft>
              <a:defRPr sz="1900">
                <a:solidFill>
                  <a:srgbClr val="22222B"/>
                </a:solidFill>
              </a:defRPr>
            </a:pPr>
            <a:r>
              <a:t>▸  Emergencies need instant parallel outreach — normal pacing is too slow</a:t>
            </a:r>
          </a:p>
          <a:p>
            <a:pPr>
              <a:spcAft>
                <a:spcPts val="1000"/>
              </a:spcAft>
              <a:defRPr sz="1900">
                <a:solidFill>
                  <a:srgbClr val="22222B"/>
                </a:solidFill>
              </a:defRPr>
            </a:pPr>
            <a:r>
              <a:t>▸  As cities and partner hospitals grow, human nudging becomes the bottleneck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8102E"/>
                </a:solidFill>
              </a:defRPr>
            </a:pPr>
            <a:r>
              <a:t>Our solution — Spandan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B"/>
                </a:solidFill>
              </a:defRPr>
            </a:pPr>
            <a:r>
              <a:t>▸  Always-on autonomous agent: forecast → rank → email → interpret reply → escalate</a:t>
            </a:r>
          </a:p>
          <a:p>
            <a:pPr>
              <a:spcAft>
                <a:spcPts val="1000"/>
              </a:spcAft>
              <a:defRPr sz="1900">
                <a:solidFill>
                  <a:srgbClr val="22222B"/>
                </a:solidFill>
              </a:defRPr>
            </a:pPr>
            <a:r>
              <a:t>▸  One intelligent layer over real Blood Warriors dataset (7,000+ donor records)</a:t>
            </a:r>
          </a:p>
          <a:p>
            <a:pPr>
              <a:spcAft>
                <a:spcPts val="1000"/>
              </a:spcAft>
              <a:defRPr sz="1900">
                <a:solidFill>
                  <a:srgbClr val="22222B"/>
                </a:solidFill>
              </a:defRPr>
            </a:pPr>
            <a:r>
              <a:t>▸  Sequential donor outreach — one patient, one donor at a time (no over-mobilization)</a:t>
            </a:r>
          </a:p>
          <a:p>
            <a:pPr>
              <a:spcAft>
                <a:spcPts val="1000"/>
              </a:spcAft>
              <a:defRPr sz="1900">
                <a:solidFill>
                  <a:srgbClr val="22222B"/>
                </a:solidFill>
              </a:defRPr>
            </a:pPr>
            <a:r>
              <a:t>▸  Surge mode for emergencies — all eligible donors in parallel, one shot</a:t>
            </a:r>
          </a:p>
          <a:p>
            <a:pPr>
              <a:spcAft>
                <a:spcPts val="1000"/>
              </a:spcAft>
              <a:defRPr sz="1900">
                <a:solidFill>
                  <a:srgbClr val="22222B"/>
                </a:solidFill>
              </a:defRPr>
            </a:pPr>
            <a:r>
              <a:t>▸  Coordinator dashboard for visibility — agent runs 24/7 without the UI open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8102E"/>
                </a:solidFill>
              </a:defRPr>
            </a:pPr>
            <a:r>
              <a:t>Autonomous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920240" cy="658368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80" y="15087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102E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52704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B"/>
                </a:solidFill>
              </a:defRPr>
            </a:pPr>
            <a:r>
              <a:t>Roll transfusion cadence forward → 90-day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1920240" cy="658368"/>
          </a:xfrm>
          <a:prstGeom prst="roundRect">
            <a:avLst/>
          </a:prstGeom>
          <a:solidFill>
            <a:srgbClr val="22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Rank (ML)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4688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102E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48716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B"/>
                </a:solidFill>
              </a:defRPr>
            </a:pPr>
            <a:r>
              <a:t>Logistic regression · blood-group filter · top donors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37560"/>
            <a:ext cx="1920240" cy="658368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Outreach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34290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102E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44728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B"/>
                </a:solidFill>
              </a:defRPr>
            </a:pPr>
            <a:r>
              <a:t>Bedrock Haiku drafts multilingual HTML emails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97680"/>
            <a:ext cx="1920240" cy="658368"/>
          </a:xfrm>
          <a:prstGeom prst="roundRect">
            <a:avLst/>
          </a:prstGeom>
          <a:solidFill>
            <a:srgbClr val="22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43891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102E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4074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B"/>
                </a:solidFill>
              </a:defRPr>
            </a:pPr>
            <a:r>
              <a:t>Magic-link YES / NO → classify intent → confirm or next donor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257800"/>
            <a:ext cx="1920240" cy="658368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Escalate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5349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102E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536752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B"/>
                </a:solidFill>
              </a:defRPr>
            </a:pPr>
            <a:r>
              <a:t>Timeout → next donor · post-YES reminder · emergency surge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8102E"/>
                </a:solidFill>
              </a:defRPr>
            </a:pPr>
            <a:r>
              <a:t>AI &amp; ML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B"/>
                </a:solidFill>
              </a:defRPr>
            </a:pPr>
            <a:r>
              <a:t>▸  Amazon Bedrock · Claude Haiku 4.5 — multilingual outreach &amp; YES/NO/CANCEL classification</a:t>
            </a:r>
          </a:p>
          <a:p>
            <a:pPr>
              <a:spcAft>
                <a:spcPts val="1000"/>
              </a:spcAft>
              <a:defRPr sz="1900">
                <a:solidFill>
                  <a:srgbClr val="22222B"/>
                </a:solidFill>
              </a:defRPr>
            </a:pPr>
            <a:r>
              <a:t>▸  scikit-learn LogisticRegression — donor response probability (real dataset features)</a:t>
            </a:r>
          </a:p>
          <a:p>
            <a:pPr>
              <a:spcAft>
                <a:spcPts val="1000"/>
              </a:spcAft>
              <a:defRPr sz="1900">
                <a:solidFill>
                  <a:srgbClr val="22222B"/>
                </a:solidFill>
              </a:defRPr>
            </a:pPr>
            <a:r>
              <a:t>▸  Per-patient forecasting — frequency_in_days rolled forward from historical records</a:t>
            </a:r>
          </a:p>
          <a:p>
            <a:pPr>
              <a:spcAft>
                <a:spcPts val="1000"/>
              </a:spcAft>
              <a:defRPr sz="1900">
                <a:solidFill>
                  <a:srgbClr val="22222B"/>
                </a:solidFill>
              </a:defRPr>
            </a:pPr>
            <a:r>
              <a:t>▸  Conversational memory — DynamoDB messages + agent_log across cycles</a:t>
            </a:r>
          </a:p>
          <a:p>
            <a:pPr>
              <a:spcAft>
                <a:spcPts val="1000"/>
              </a:spcAft>
              <a:defRPr sz="1900">
                <a:solidFill>
                  <a:srgbClr val="22222B"/>
                </a:solidFill>
              </a:defRPr>
            </a:pPr>
            <a:r>
              <a:t>▸  Failure learning — skip_score penalizes non-responsive donors in future ranking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8102E"/>
                </a:solidFill>
              </a:defRPr>
            </a:pPr>
            <a:r>
              <a:t>AWS architecture (live on EC2)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22B"/>
                </a:solidFill>
                <a:latin typeface="Courier New"/>
              </a:defRPr>
            </a:pPr>
            <a:r>
              <a:t>┌──────────────────────┐     ┌─────────────────┐     ┌──────────────────┐</a:t>
            </a:r>
            <a:br/>
            <a:r>
              <a:t>│  Streamlit dashboard │────▶│  agent.py       │────▶│  DynamoDB        │</a:t>
            </a:r>
            <a:br/>
            <a:r>
              <a:t>│  Coordinator UI      │     │  background loop│     │  donors · bridges│</a:t>
            </a:r>
            <a:br/>
            <a:r>
              <a:t>└──────────┬───────────┘     └────────┬────────┘     └──────────────────┘</a:t>
            </a:r>
            <a:br/>
            <a:r>
              <a:t>           │                          │</a:t>
            </a:r>
            <a:br/>
            <a:r>
              <a:t>           │                   ┌──────┴──────┐</a:t>
            </a:r>
            <a:br/>
            <a:r>
              <a:t>           │                   ▼             ▼</a:t>
            </a:r>
            <a:br/>
            <a:r>
              <a:t>           │            ┌────────────┐  ┌─────────────┐</a:t>
            </a:r>
            <a:br/>
            <a:r>
              <a:t>           └───────────▶│ MailPit    │  │ Bedrock     │</a:t>
            </a:r>
            <a:br/>
            <a:r>
              <a:t>                        │ /mail inbox│  │ Haiku 4.5   │</a:t>
            </a:r>
            <a:br/>
            <a:r>
              <a:t>                        └────────────┘  └─────────────┘</a:t>
            </a:r>
            <a:br/>
            <a:r>
              <a:t>nginx :80 · EC2 t3.small · IAM role · us-east-1 · systemd 24/7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8102E"/>
                </a:solidFill>
              </a:defRPr>
            </a:pPr>
            <a:r>
              <a:t>Live demo — scan to try</a:t>
            </a:r>
          </a:p>
        </p:txBody>
      </p:sp>
      <p:pic>
        <p:nvPicPr>
          <p:cNvPr id="4" name="Picture 3" descr="q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2148840" cy="2148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3886200"/>
            <a:ext cx="2377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C8102E"/>
                </a:solidFill>
              </a:defRPr>
            </a:pPr>
            <a:r>
              <a:t>Dashboard</a:t>
            </a:r>
          </a:p>
          <a:p>
            <a:pPr algn="ctr">
              <a:defRPr sz="900">
                <a:solidFill>
                  <a:srgbClr val="5A6068"/>
                </a:solidFill>
              </a:defRPr>
            </a:pPr>
            <a:r>
              <a:t>98.84.159.117</a:t>
            </a:r>
          </a:p>
        </p:txBody>
      </p:sp>
      <p:pic>
        <p:nvPicPr>
          <p:cNvPr id="6" name="Picture 5" descr="qr-mailp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1600200"/>
            <a:ext cx="2148840" cy="2148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86200" y="3886200"/>
            <a:ext cx="2377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C8102E"/>
                </a:solidFill>
              </a:defRPr>
            </a:pPr>
            <a:r>
              <a:t>MailPit inbox</a:t>
            </a:r>
          </a:p>
          <a:p>
            <a:pPr algn="ctr">
              <a:defRPr sz="900">
                <a:solidFill>
                  <a:srgbClr val="5A6068"/>
                </a:solidFill>
              </a:defRPr>
            </a:pPr>
            <a:r>
              <a:t>98.84.159.117/mail</a:t>
            </a:r>
          </a:p>
        </p:txBody>
      </p:sp>
      <p:pic>
        <p:nvPicPr>
          <p:cNvPr id="8" name="Picture 7" descr="qr-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600200"/>
            <a:ext cx="2148840" cy="2148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6600" y="3886200"/>
            <a:ext cx="2377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C8102E"/>
                </a:solidFill>
              </a:defRPr>
            </a:pPr>
            <a:r>
              <a:t>GitHub repo</a:t>
            </a:r>
          </a:p>
          <a:p>
            <a:pPr algn="ctr">
              <a:defRPr sz="900">
                <a:solidFill>
                  <a:srgbClr val="5A6068"/>
                </a:solidFill>
              </a:defRPr>
            </a:pPr>
            <a:r>
              <a:t>github.com/madhuri-gande/spandan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1508760"/>
            <a:ext cx="2286000" cy="4389120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38360" y="169164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102E"/>
                </a:solidFill>
              </a:defRPr>
            </a:pPr>
            <a:r>
              <a:t>Login</a:t>
            </a:r>
          </a:p>
          <a:p>
            <a:pPr>
              <a:defRPr sz="1200" b="0">
                <a:solidFill>
                  <a:srgbClr val="22222B"/>
                </a:solidFill>
              </a:defRPr>
            </a:pPr>
            <a:r>
              <a:t>coordinator</a:t>
            </a:r>
          </a:p>
          <a:p>
            <a:pPr>
              <a:defRPr sz="1200" b="0">
                <a:solidFill>
                  <a:srgbClr val="22222B"/>
                </a:solidFill>
              </a:defRPr>
            </a:pPr>
          </a:p>
          <a:p>
            <a:pPr>
              <a:defRPr sz="1200" b="1">
                <a:solidFill>
                  <a:srgbClr val="C8102E"/>
                </a:solidFill>
              </a:defRPr>
            </a:pPr>
            <a:r>
              <a:t>Demo flow</a:t>
            </a:r>
          </a:p>
          <a:p>
            <a:pPr>
              <a:defRPr sz="1200" b="0">
                <a:solidFill>
                  <a:srgbClr val="22222B"/>
                </a:solidFill>
              </a:defRPr>
            </a:pPr>
            <a:r>
              <a:t>1. Pipeline</a:t>
            </a:r>
          </a:p>
          <a:p>
            <a:pPr>
              <a:defRPr sz="1200" b="0">
                <a:solidFill>
                  <a:srgbClr val="22222B"/>
                </a:solidFill>
              </a:defRPr>
            </a:pPr>
            <a:r>
              <a:t>2. Email donor</a:t>
            </a:r>
          </a:p>
          <a:p>
            <a:pPr>
              <a:defRPr sz="1200" b="0">
                <a:solidFill>
                  <a:srgbClr val="22222B"/>
                </a:solidFill>
              </a:defRPr>
            </a:pPr>
            <a:r>
              <a:t>3. MailPit → YES</a:t>
            </a:r>
          </a:p>
          <a:p>
            <a:pPr>
              <a:defRPr sz="1200" b="0">
                <a:solidFill>
                  <a:srgbClr val="22222B"/>
                </a:solidFill>
              </a:defRPr>
            </a:pPr>
            <a:r>
              <a:t>4. KPI updates</a:t>
            </a:r>
          </a:p>
          <a:p>
            <a:pPr>
              <a:defRPr sz="1200" b="0">
                <a:solidFill>
                  <a:srgbClr val="22222B"/>
                </a:solidFill>
              </a:defRPr>
            </a:pPr>
            <a:r>
              <a:t>5. Surge mode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8102E"/>
                </a:solidFill>
              </a:defRPr>
            </a:pPr>
            <a:r>
              <a:t>Evaluation criteria mapping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914400" cy="59436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417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B"/>
                </a:solidFill>
              </a:defRPr>
            </a:pPr>
            <a:r>
              <a:t>Practicality &amp; scalability  —  Real cadence forecasting, cooldowns, surge, SES-ready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50008"/>
            <a:ext cx="914400" cy="59436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35000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B"/>
                </a:solidFill>
              </a:defRPr>
            </a:pPr>
            <a:r>
              <a:t>Innovation  —  Autonomous state machine — not a chatbot wrapper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82696"/>
            <a:ext cx="914400" cy="59436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282696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B"/>
                </a:solidFill>
              </a:defRPr>
            </a:pPr>
            <a:r>
              <a:t>AI component  —  Bedrock multilingual + ML ranking on organiser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215384"/>
            <a:ext cx="914400" cy="59436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215384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B"/>
                </a:solidFill>
              </a:defRPr>
            </a:pPr>
            <a:r>
              <a:t>Real implementation  —  Live emails, magic links, DynamoDB — not mock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148072"/>
            <a:ext cx="914400" cy="59436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5148072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B"/>
                </a:solidFill>
              </a:defRPr>
            </a:pPr>
            <a:r>
              <a:t>End-to-end deployment  —  GitHub + EC2 + systemd + nginx + IAM role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Try now: http://98.84.159.117</a:t>
            </a:r>
          </a:p>
          <a:p>
            <a:pPr>
              <a:spcBef>
                <a:spcPts val="1000"/>
              </a:spcBef>
              <a:defRPr sz="1500">
                <a:solidFill>
                  <a:srgbClr val="FFDDDD"/>
                </a:solidFill>
              </a:defRPr>
            </a:pPr>
            <a:r>
              <a:t>https://github.com/madhuri-gande/spandan</a:t>
            </a:r>
          </a:p>
        </p:txBody>
      </p:sp>
      <p:pic>
        <p:nvPicPr>
          <p:cNvPr id="3" name="Picture 2" descr="q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828800"/>
            <a:ext cx="201168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0" y="3977639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DDDD"/>
                </a:solidFill>
              </a:defRPr>
            </a:pPr>
            <a:r>
              <a:t>Scan to open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